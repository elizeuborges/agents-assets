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4f42e31-24c7-1962-e0f3-22b9e177bba0}">
          <p14:sldIdLst>
            <p14:sldId id="256"/>
            <p14:sldId id="257"/>
          </p14:sldIdLst>
        </p14:section>
        <p14:section name="Motivação" id="{47496a6b-a5c2-78f6-e5f0-5c093acdd4cb}">
          <p14:sldIdLst>
            <p14:sldId id="258"/>
            <p14:sldId id="259"/>
            <p14:sldId id="260"/>
          </p14:sldIdLst>
        </p14:section>
        <p14:section name="Como funciona" id="{98b38d4b-e6f7-833b-ce24-2a284d75b4dd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Blocos" id="{77d73280-254c-e587-6809-ce644bda60bd}">
          <p14:sldIdLst>
            <p14:sldId id="269"/>
            <p14:sldId id="270"/>
            <p14:sldId id="271"/>
            <p14:sldId id="272"/>
            <p14:sldId id="273"/>
          </p14:sldIdLst>
        </p14:section>
        <p14:section name="Adoção" id="{4b5fdf31-43ad-437b-9539-dcdf080d1802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4D2A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0F4D2A"/>
                </a:solidFill>
                <a:latin typeface="Calibri"/>
              </a:rPr>
              <a:t>Decks gerados por mês (ilustrativo)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Decks</c:v>
                </c:pt>
              </c:strCache>
            </c:strRef>
          </c:tx>
          <c:spPr>
            <a:solidFill>
              <a:srgbClr val="3FA5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Jul</c:v>
                  </c:pt>
                  <c:pt idx="1">
                    <c:v>Ago</c:v>
                  </c:pt>
                  <c:pt idx="2">
                    <c:v>Set</c:v>
                  </c:pt>
                  <c:pt idx="3">
                    <c:v>Out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9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A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6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deck é o exemplo da skill: cada slide mostra um tipo de bloco disponível.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agenda é montada a partir dos slides de seção do roteiro.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F4D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8229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548640" y="6336792"/>
            <a:ext cx="11091672" cy="10973"/>
          </a:xfrm>
          <a:prstGeom prst="rect">
            <a:avLst/>
          </a:prstGeom>
          <a:solidFill>
            <a:srgbClr val="DDE6DA"/>
          </a:solidFill>
          <a:ln w="12700">
            <a:solidFill>
              <a:srgbClr val="DDE6DA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de apresentações  ·  Exemplo gerado pela skill slides-padrao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Apresentações com identidade visual padrão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roteiro em texto vira um deck com a mesma identidade visual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área  ·  Outubro de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49840" y="1463040"/>
            <a:ext cx="1097280" cy="1097280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35133" y="1748333"/>
            <a:ext cx="526694" cy="52669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784080" y="26334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326880" y="3383280"/>
            <a:ext cx="1097280" cy="1097280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173" y="3668573"/>
            <a:ext cx="526694" cy="52669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961120" y="45537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0" y="3383280"/>
            <a:ext cx="1097280" cy="1097280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093" y="3668573"/>
            <a:ext cx="526694" cy="52669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607040" y="45537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2002536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13232" y="216255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DE6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002536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padronizar as apresentações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907792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306781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DE6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30678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90779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roteiro ao arquivo .pptx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813048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3232" y="397306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DE6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38130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dá para montar com o roteiro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4718304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13232" y="487832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DE6D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13232" y="48783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4718304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levar o padrão para o dia a dia</a:t>
            </a:r>
            <a:endParaRPr lang="en-US" sz="12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padronizar as apresentações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509760" y="2468880"/>
            <a:ext cx="1463040" cy="1463040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0150" y="2849270"/>
            <a:ext cx="702259" cy="7022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padronizar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apresentação hoje nasce de um arquivo diferente; o padrão garante a mesma identidade sem retrabalho.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706624"/>
            <a:ext cx="3544824" cy="1737360"/>
          </a:xfrm>
          <a:prstGeom prst="roundRect">
            <a:avLst>
              <a:gd name="adj" fmla="val 4211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2907792"/>
            <a:ext cx="530352" cy="530352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700" y="3045684"/>
            <a:ext cx="254569" cy="2545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2907792"/>
            <a:ext cx="2474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identidade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3575304"/>
            <a:ext cx="314248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Paleta, fontes, capa e rodapé vêm de um único arquivo de marca, igual para todos.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2064" y="2706624"/>
            <a:ext cx="3544824" cy="1737360"/>
          </a:xfrm>
          <a:prstGeom prst="roundRect">
            <a:avLst>
              <a:gd name="adj" fmla="val 4211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3232" y="2907792"/>
            <a:ext cx="530352" cy="530352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124" y="3045684"/>
            <a:ext cx="254569" cy="25456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90744" y="2907792"/>
            <a:ext cx="2474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tempo formatando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523232" y="3575304"/>
            <a:ext cx="314248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apresenta escreve o conteúdo; o layout já está resolvido.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95488" y="2706624"/>
            <a:ext cx="3544824" cy="1737360"/>
          </a:xfrm>
          <a:prstGeom prst="roundRect">
            <a:avLst>
              <a:gd name="adj" fmla="val 4211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6656" y="2907792"/>
            <a:ext cx="530352" cy="530352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4548" y="3045684"/>
            <a:ext cx="254569" cy="25456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64168" y="2907792"/>
            <a:ext cx="2474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agentes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296656" y="3575304"/>
            <a:ext cx="314248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de IA gera o deck a partir do mesmo roteiro que uma pessoa escreveria.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5641848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788152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35024" y="5641848"/>
            <a:ext cx="10122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buNone/>
            </a:pPr>
            <a:r>
              <a:rPr lang="en-US" sz="13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slide, uma mensagem. A frase abaixo do título é o que a plateia deve lembrar.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e depois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para quem monta uma apresentação.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134356" cy="457200"/>
          </a:xfrm>
          <a:prstGeom prst="roundRect">
            <a:avLst>
              <a:gd name="adj" fmla="val 16000"/>
            </a:avLst>
          </a:prstGeom>
          <a:solidFill>
            <a:srgbClr val="D5E8CF"/>
          </a:solidFill>
          <a:ln w="12700">
            <a:solidFill>
              <a:srgbClr val="D5E8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05956" y="1737360"/>
            <a:ext cx="5134356" cy="457200"/>
          </a:xfrm>
          <a:prstGeom prst="roundRect">
            <a:avLst>
              <a:gd name="adj" fmla="val 16000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274320" cy="27432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8836" y="1828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1737360"/>
            <a:ext cx="44028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100316" y="1737360"/>
            <a:ext cx="44028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skill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2304288"/>
            <a:ext cx="5134356" cy="731520"/>
          </a:xfrm>
          <a:prstGeom prst="roundRect">
            <a:avLst>
              <a:gd name="adj" fmla="val 100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304288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pessoa parte de um arquivo antigo</a:t>
            </a:r>
            <a:endParaRPr lang="en-US" sz="12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316" y="2551176"/>
            <a:ext cx="274320" cy="2743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505956" y="2304288"/>
            <a:ext cx="5134356" cy="731520"/>
          </a:xfrm>
          <a:prstGeom prst="roundRect">
            <a:avLst>
              <a:gd name="adj" fmla="val 10000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688836" y="2304288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partem do mesmo padrão, versionado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127248"/>
            <a:ext cx="5134356" cy="731520"/>
          </a:xfrm>
          <a:prstGeom prst="roundRect">
            <a:avLst>
              <a:gd name="adj" fmla="val 100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3127248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e fontes ajustadas à mão</a:t>
            </a:r>
            <a:endParaRPr lang="en-US" sz="12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7316" y="3374136"/>
            <a:ext cx="274320" cy="2743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505956" y="3127248"/>
            <a:ext cx="5134356" cy="731520"/>
          </a:xfrm>
          <a:prstGeom prst="roundRect">
            <a:avLst>
              <a:gd name="adj" fmla="val 10000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688836" y="3127248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e fontes vêm do arquivo de marca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3950208"/>
            <a:ext cx="5134356" cy="731520"/>
          </a:xfrm>
          <a:prstGeom prst="roundRect">
            <a:avLst>
              <a:gd name="adj" fmla="val 100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1520" y="3950208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 template exige refazer slides</a:t>
            </a:r>
            <a:endParaRPr lang="en-US" sz="12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7316" y="4197096"/>
            <a:ext cx="274320" cy="27432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505956" y="3950208"/>
            <a:ext cx="5134356" cy="731520"/>
          </a:xfrm>
          <a:prstGeom prst="roundRect">
            <a:avLst>
              <a:gd name="adj" fmla="val 10000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688836" y="3950208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 template é atualizar um arquivo e gerar de novo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548640" y="4773168"/>
            <a:ext cx="5134356" cy="731520"/>
          </a:xfrm>
          <a:prstGeom prst="roundRect">
            <a:avLst>
              <a:gd name="adj" fmla="val 100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31520" y="4773168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de IA geram slides sem identidade</a:t>
            </a:r>
            <a:endParaRPr lang="en-US" sz="125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316" y="5020056"/>
            <a:ext cx="274320" cy="27432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505956" y="4773168"/>
            <a:ext cx="5134356" cy="731520"/>
          </a:xfrm>
          <a:prstGeom prst="roundRect">
            <a:avLst>
              <a:gd name="adj" fmla="val 10000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688836" y="4773168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usam a mesma skill e o mesmo roteiro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roteiro ao arquivo .pptx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509760" y="2468880"/>
            <a:ext cx="1463040" cy="1463040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0150" y="2849270"/>
            <a:ext cx="702259" cy="7022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02536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" y="2162556"/>
            <a:ext cx="457200" cy="457200"/>
          </a:xfrm>
          <a:prstGeom prst="ellipse">
            <a:avLst/>
          </a:prstGeom>
          <a:solidFill>
            <a:srgbClr val="D5E8CF"/>
          </a:solidFill>
          <a:ln w="12700">
            <a:solidFill>
              <a:srgbClr val="DDE6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002536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padronizar as apresentações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07792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3067812"/>
            <a:ext cx="457200" cy="457200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0678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90779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roteiro ao arquivo .pptx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13048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397306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DE6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8130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dá para montar com o roteiro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718304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487832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DE6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8783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18304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levar o padrão para o dia a dia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skill reúne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só pacote liga a identidade visual, o roteiro e quem gera o deck.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206240" y="2446020"/>
            <a:ext cx="932688" cy="1051560"/>
          </a:xfrm>
          <a:prstGeom prst="line">
            <a:avLst/>
          </a:prstGeom>
          <a:noFill/>
          <a:ln w="19050">
            <a:solidFill>
              <a:srgbClr val="D5E8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6022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897380"/>
            <a:ext cx="457200" cy="45720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016252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7592" y="18973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JSON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24277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conteúdo de cada slide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06240" y="4000500"/>
            <a:ext cx="932688" cy="914"/>
          </a:xfrm>
          <a:prstGeom prst="line">
            <a:avLst/>
          </a:prstGeom>
          <a:noFill/>
          <a:ln w="19050">
            <a:solidFill>
              <a:srgbClr val="D5E8C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331470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" y="3451860"/>
            <a:ext cx="457200" cy="45720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57073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07592" y="34518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da marca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713232" y="39822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Paleta, fontes, rodapé e logo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 flipV="1">
            <a:off x="4206240" y="4503420"/>
            <a:ext cx="932688" cy="1051560"/>
          </a:xfrm>
          <a:prstGeom prst="line">
            <a:avLst/>
          </a:prstGeom>
          <a:noFill/>
          <a:ln w="19050">
            <a:solidFill>
              <a:srgbClr val="D5E8C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486918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13232" y="5006340"/>
            <a:ext cx="457200" cy="45720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5125212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07592" y="50063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.potx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713232" y="55366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opcional dos tokens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 flipV="1">
            <a:off x="7050024" y="2446020"/>
            <a:ext cx="932688" cy="1051560"/>
          </a:xfrm>
          <a:prstGeom prst="line">
            <a:avLst/>
          </a:prstGeom>
          <a:noFill/>
          <a:ln w="19050">
            <a:solidFill>
              <a:srgbClr val="D5E8C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982712" y="176022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147304" y="1897380"/>
            <a:ext cx="457200" cy="45720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6" y="2016252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741664" y="18973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8147304" y="24277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Copilot e outros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050024" y="4000500"/>
            <a:ext cx="932688" cy="914"/>
          </a:xfrm>
          <a:prstGeom prst="line">
            <a:avLst/>
          </a:prstGeom>
          <a:noFill/>
          <a:ln w="19050">
            <a:solidFill>
              <a:srgbClr val="D5E8C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982712" y="331470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147304" y="3451860"/>
            <a:ext cx="457200" cy="45720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176" y="3570732"/>
            <a:ext cx="219456" cy="219456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741664" y="34518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8147304" y="39822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Rodam um comando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7050024" y="4503420"/>
            <a:ext cx="932688" cy="1051560"/>
          </a:xfrm>
          <a:prstGeom prst="line">
            <a:avLst/>
          </a:prstGeom>
          <a:noFill/>
          <a:ln w="19050">
            <a:solidFill>
              <a:srgbClr val="D5E8CF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7982712" y="486918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8147304" y="5006340"/>
            <a:ext cx="457200" cy="45720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5125212"/>
            <a:ext cx="219456" cy="219456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741664" y="50063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</a:t>
            </a:r>
            <a:endParaRPr lang="en-US" sz="1350" dirty="0"/>
          </a:p>
        </p:txBody>
      </p:sp>
      <p:sp>
        <p:nvSpPr>
          <p:cNvPr id="39" name="Text 31"/>
          <p:cNvSpPr txBox="1"/>
          <p:nvPr/>
        </p:nvSpPr>
        <p:spPr>
          <a:xfrm>
            <a:off x="8147304" y="55366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Layouts sob medida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5088636" y="2994660"/>
            <a:ext cx="2011680" cy="2011680"/>
          </a:xfrm>
          <a:prstGeom prst="ellipse">
            <a:avLst/>
          </a:prstGeom>
          <a:solidFill>
            <a:srgbClr val="3FA535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3308" y="3376879"/>
            <a:ext cx="402336" cy="402336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5180076" y="326898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slides-padrao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da skill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camada se apoia na de baixo: quem escreve o roteiro não toca na identidade visual.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07108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07108"/>
            <a:ext cx="2772918" cy="914400"/>
          </a:xfrm>
          <a:prstGeom prst="roundRect">
            <a:avLst>
              <a:gd name="adj" fmla="val 8000"/>
            </a:avLst>
          </a:prstGeom>
          <a:solidFill>
            <a:srgbClr val="D5E8CF"/>
          </a:solidFill>
          <a:ln w="12700">
            <a:solidFill>
              <a:srgbClr val="D5E8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2253996"/>
            <a:ext cx="420624" cy="420624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594" y="2363358"/>
            <a:ext cx="201900" cy="201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2007108"/>
            <a:ext cx="19682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550158" y="2007108"/>
            <a:ext cx="7907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JSON com título, mensagem e blocos de cada slide, escrito por pessoas ou agentes.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3031236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3031236"/>
            <a:ext cx="2772918" cy="914400"/>
          </a:xfrm>
          <a:prstGeom prst="roundRect">
            <a:avLst>
              <a:gd name="adj" fmla="val 8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" y="3278124"/>
            <a:ext cx="420624" cy="420624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94" y="3387486"/>
            <a:ext cx="201900" cy="2019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61872" y="3031236"/>
            <a:ext cx="19682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550158" y="3031236"/>
            <a:ext cx="7907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build-from-spec.js valida o roteiro, avisa sobre texto longo e monta o deck.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4055364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4055364"/>
            <a:ext cx="2772918" cy="914400"/>
          </a:xfrm>
          <a:prstGeom prst="roundRect">
            <a:avLst>
              <a:gd name="adj" fmla="val 8000"/>
            </a:avLst>
          </a:prstGeom>
          <a:solidFill>
            <a:srgbClr val="D5E8CF"/>
          </a:solidFill>
          <a:ln w="12700">
            <a:solidFill>
              <a:srgbClr val="D5E8C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13232" y="4302252"/>
            <a:ext cx="420624" cy="420624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94" y="4411614"/>
            <a:ext cx="201900" cy="2019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61872" y="4055364"/>
            <a:ext cx="19682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blocos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550158" y="4366260"/>
            <a:ext cx="69240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6D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50158" y="4366260"/>
            <a:ext cx="6924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334002" y="4366260"/>
            <a:ext cx="69240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6D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334002" y="4366260"/>
            <a:ext cx="6924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5117846" y="4366260"/>
            <a:ext cx="8376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6DA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117846" y="4366260"/>
            <a:ext cx="837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046978" y="4366260"/>
            <a:ext cx="8376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6D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046978" y="4366260"/>
            <a:ext cx="837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976110" y="4366260"/>
            <a:ext cx="9829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6DA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976110" y="4366260"/>
            <a:ext cx="98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050530" y="4366260"/>
            <a:ext cx="10556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6DA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050530" y="4366260"/>
            <a:ext cx="1055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 mais 19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548640" y="5079492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548640" y="5079492"/>
            <a:ext cx="2772918" cy="914400"/>
          </a:xfrm>
          <a:prstGeom prst="roundRect">
            <a:avLst>
              <a:gd name="adj" fmla="val 8000"/>
            </a:avLst>
          </a:prstGeom>
          <a:solidFill>
            <a:srgbClr val="D5E8CF"/>
          </a:solidFill>
          <a:ln w="12700">
            <a:solidFill>
              <a:srgbClr val="D5E8C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13232" y="5326380"/>
            <a:ext cx="420624" cy="420624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94" y="5435742"/>
            <a:ext cx="201900" cy="20190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261872" y="5079492"/>
            <a:ext cx="19682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 visual</a:t>
            </a:r>
            <a:endParaRPr lang="en-US" sz="1400" dirty="0"/>
          </a:p>
        </p:txBody>
      </p:sp>
      <p:sp>
        <p:nvSpPr>
          <p:cNvPr id="38" name="Shape 32"/>
          <p:cNvSpPr/>
          <p:nvPr/>
        </p:nvSpPr>
        <p:spPr>
          <a:xfrm>
            <a:off x="3550158" y="5390388"/>
            <a:ext cx="76504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6D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3550158" y="5390388"/>
            <a:ext cx="765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4406646" y="5390388"/>
            <a:ext cx="76504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6D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406646" y="5390388"/>
            <a:ext cx="765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5263134" y="5390388"/>
            <a:ext cx="6197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6D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263134" y="5390388"/>
            <a:ext cx="61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</a:t>
            </a:r>
            <a:endParaRPr lang="en-US" sz="1100" dirty="0"/>
          </a:p>
        </p:txBody>
      </p:sp>
      <p:sp>
        <p:nvSpPr>
          <p:cNvPr id="44" name="Shape 38"/>
          <p:cNvSpPr/>
          <p:nvPr/>
        </p:nvSpPr>
        <p:spPr>
          <a:xfrm>
            <a:off x="5974334" y="5390388"/>
            <a:ext cx="76504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6D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5974334" y="5390388"/>
            <a:ext cx="765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Rodapé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partes se ligam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gerador junta o roteiro e a identidade visual; a conferência volta para o roteiro.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2395728" cy="1188720"/>
          </a:xfrm>
          <a:prstGeom prst="roundRect">
            <a:avLst>
              <a:gd name="adj" fmla="val 6154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2606040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roteiro.json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4206240"/>
            <a:ext cx="239572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1E6B52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58368" y="4206240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 visual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brand/tokens.json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2606040"/>
            <a:ext cx="2395728" cy="2788920"/>
          </a:xfrm>
          <a:prstGeom prst="roundRect">
            <a:avLst>
              <a:gd name="adj" fmla="val 3053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57016" y="2606040"/>
            <a:ext cx="217627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build-from-spec.js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45936" y="2606040"/>
            <a:ext cx="2395728" cy="1188720"/>
          </a:xfrm>
          <a:prstGeom prst="roundRect">
            <a:avLst>
              <a:gd name="adj" fmla="val 6154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55664" y="2606040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saida.pptx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44584" y="2606040"/>
            <a:ext cx="2395728" cy="1188720"/>
          </a:xfrm>
          <a:prstGeom prst="roundRect">
            <a:avLst>
              <a:gd name="adj" fmla="val 6154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54312" y="2606040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Conferência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render.js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45936" y="4206240"/>
            <a:ext cx="5294376" cy="1188720"/>
          </a:xfrm>
          <a:prstGeom prst="roundRect">
            <a:avLst>
              <a:gd name="adj" fmla="val 6154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420624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humana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o roteiro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44368" y="3200400"/>
            <a:ext cx="502920" cy="0"/>
          </a:xfrm>
          <a:prstGeom prst="line">
            <a:avLst/>
          </a:prstGeom>
          <a:noFill/>
          <a:ln w="19050">
            <a:solidFill>
              <a:srgbClr val="6B7A72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578608" y="290779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44368" y="4800600"/>
            <a:ext cx="502920" cy="0"/>
          </a:xfrm>
          <a:prstGeom prst="line">
            <a:avLst/>
          </a:prstGeom>
          <a:noFill/>
          <a:ln w="19050">
            <a:solidFill>
              <a:srgbClr val="6B7A72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578608" y="450799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43016" y="3200400"/>
            <a:ext cx="502920" cy="0"/>
          </a:xfrm>
          <a:prstGeom prst="line">
            <a:avLst/>
          </a:prstGeom>
          <a:noFill/>
          <a:ln w="19050">
            <a:solidFill>
              <a:srgbClr val="6B7A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741664" y="3200400"/>
            <a:ext cx="502920" cy="0"/>
          </a:xfrm>
          <a:prstGeom prst="line">
            <a:avLst/>
          </a:prstGeom>
          <a:noFill/>
          <a:ln w="19050">
            <a:solidFill>
              <a:srgbClr val="6B7A72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8375904" y="290779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442448" y="3794760"/>
            <a:ext cx="0" cy="411480"/>
          </a:xfrm>
          <a:prstGeom prst="line">
            <a:avLst/>
          </a:prstGeom>
          <a:noFill/>
          <a:ln w="19050">
            <a:solidFill>
              <a:srgbClr val="6B7A7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roteiro ao deck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passos, e o último é sempre uma revisão humana.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32888" cy="2148840"/>
          </a:xfrm>
          <a:prstGeom prst="roundRect">
            <a:avLst>
              <a:gd name="adj" fmla="val 3404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40764" y="1920240"/>
            <a:ext cx="548640" cy="54864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3410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256032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Roteiro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035808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Título, mensagem e blocos de cada slide, em JSON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108960" y="2811780"/>
            <a:ext cx="265176" cy="0"/>
          </a:xfrm>
          <a:prstGeom prst="line">
            <a:avLst/>
          </a:prstGeom>
          <a:noFill/>
          <a:ln w="19050">
            <a:solidFill>
              <a:srgbClr val="6B7A7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401568" y="1737360"/>
            <a:ext cx="2532888" cy="2148840"/>
          </a:xfrm>
          <a:prstGeom prst="roundRect">
            <a:avLst>
              <a:gd name="adj" fmla="val 3404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93692" y="192024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6338" y="20628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11296" y="256032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Geração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511296" y="3035808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 aplica layouts, cores e fontes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961888" y="2811780"/>
            <a:ext cx="265176" cy="0"/>
          </a:xfrm>
          <a:prstGeom prst="line">
            <a:avLst/>
          </a:prstGeom>
          <a:noFill/>
          <a:ln w="19050">
            <a:solidFill>
              <a:srgbClr val="6B7A72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254496" y="1737360"/>
            <a:ext cx="2532888" cy="2148840"/>
          </a:xfrm>
          <a:prstGeom prst="roundRect">
            <a:avLst>
              <a:gd name="adj" fmla="val 3404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246620" y="1920240"/>
            <a:ext cx="548640" cy="54864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266" y="206288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64224" y="256032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Conferência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364224" y="3035808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de cada slide para revisar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814816" y="2811780"/>
            <a:ext cx="265176" cy="0"/>
          </a:xfrm>
          <a:prstGeom prst="line">
            <a:avLst/>
          </a:prstGeom>
          <a:noFill/>
          <a:ln w="19050">
            <a:solidFill>
              <a:srgbClr val="6B7A72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107424" y="1737360"/>
            <a:ext cx="2532888" cy="2148840"/>
          </a:xfrm>
          <a:prstGeom prst="roundRect">
            <a:avLst>
              <a:gd name="adj" fmla="val 3404"/>
            </a:avLst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0099548" y="192024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2194" y="2062886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17152" y="256032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Revisão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9217152" y="3035808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apresenta ajusta e aprova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4114800"/>
            <a:ext cx="1109167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Pessoas: escrevem o roteiro e rodam um comando.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Agentes: usam a skill diretamente.</a:t>
            </a:r>
            <a:endParaRPr lang="en-US" sz="1500" dirty="0"/>
          </a:p>
          <a:p>
            <a:pPr lvl="1" marL="4572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roteiro em JSON, ou pela biblioteca em JavaScript para layouts sob medida.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de cada deck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Escrever, gerar e conferir até o deck estar pronto para entregar.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155698" y="2903220"/>
            <a:ext cx="2194560" cy="2194560"/>
          </a:xfrm>
          <a:prstGeom prst="ellipse">
            <a:avLst/>
          </a:prstGeom>
          <a:ln w="31750">
            <a:solidFill>
              <a:srgbClr val="D5E8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89403" y="3106639"/>
            <a:ext cx="257436" cy="257436"/>
          </a:xfrm>
          <a:prstGeom prst="line">
            <a:avLst/>
          </a:prstGeom>
          <a:noFill/>
          <a:ln w="28575">
            <a:solidFill>
              <a:srgbClr val="3FA53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H="1">
            <a:off x="3889403" y="4636925"/>
            <a:ext cx="257436" cy="257436"/>
          </a:xfrm>
          <a:prstGeom prst="line">
            <a:avLst/>
          </a:prstGeom>
          <a:noFill/>
          <a:ln w="28575">
            <a:solidFill>
              <a:srgbClr val="3FA535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H="1" flipV="1">
            <a:off x="2359117" y="4636925"/>
            <a:ext cx="257436" cy="257436"/>
          </a:xfrm>
          <a:prstGeom prst="line">
            <a:avLst/>
          </a:prstGeom>
          <a:noFill/>
          <a:ln w="28575">
            <a:solidFill>
              <a:srgbClr val="3FA535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V="1">
            <a:off x="2359117" y="3106639"/>
            <a:ext cx="257436" cy="257436"/>
          </a:xfrm>
          <a:prstGeom prst="line">
            <a:avLst/>
          </a:prstGeom>
          <a:noFill/>
          <a:ln w="28575">
            <a:solidFill>
              <a:srgbClr val="3FA535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567178" y="36347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978658" y="2628900"/>
            <a:ext cx="548640" cy="54864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1304" y="2771546"/>
            <a:ext cx="263347" cy="26334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55698" y="22905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 roteiro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075938" y="3726180"/>
            <a:ext cx="548640" cy="54864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8584" y="3868826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734306" y="3854196"/>
            <a:ext cx="12230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o .pptx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978658" y="4823460"/>
            <a:ext cx="548640" cy="54864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304" y="496610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155698" y="54178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Conferir as imagens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1881378" y="3726180"/>
            <a:ext cx="548640" cy="548640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4024" y="386882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8640" y="3854196"/>
            <a:ext cx="12230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o roteiro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231636" y="210312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 4</a:t>
            </a:r>
            <a:pPr indent="0" marL="0">
              <a:buNone/>
            </a:pPr>
            <a:r>
              <a:rPr lang="en-US" sz="13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concluídos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231636" y="2432304"/>
            <a:ext cx="5408676" cy="109728"/>
          </a:xfrm>
          <a:prstGeom prst="roundRect">
            <a:avLst>
              <a:gd name="adj" fmla="val 50000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31636" y="2432304"/>
            <a:ext cx="2704338" cy="109728"/>
          </a:xfrm>
          <a:prstGeom prst="roundRect">
            <a:avLst>
              <a:gd name="adj" fmla="val 50000"/>
            </a:avLst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231636" y="2697480"/>
            <a:ext cx="5408676" cy="566928"/>
          </a:xfrm>
          <a:prstGeom prst="roundRect">
            <a:avLst>
              <a:gd name="adj" fmla="val 1290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852928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761988" y="2697480"/>
            <a:ext cx="47411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slide, uma mensagem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231636" y="3355848"/>
            <a:ext cx="5408676" cy="566928"/>
          </a:xfrm>
          <a:prstGeom prst="roundRect">
            <a:avLst>
              <a:gd name="adj" fmla="val 1290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511296"/>
            <a:ext cx="256032" cy="25603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761988" y="3355848"/>
            <a:ext cx="47411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sem avisos de texto longo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231636" y="4014216"/>
            <a:ext cx="5408676" cy="566928"/>
          </a:xfrm>
          <a:prstGeom prst="roundRect">
            <a:avLst>
              <a:gd name="adj" fmla="val 1290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169664"/>
            <a:ext cx="256032" cy="25603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761988" y="4014216"/>
            <a:ext cx="47411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Conferido com o render.js</a:t>
            </a:r>
            <a:endParaRPr lang="en-US" sz="12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abrindo o .pptx</a:t>
            </a:r>
            <a:endParaRPr lang="en-US" sz="1200" dirty="0"/>
          </a:p>
        </p:txBody>
      </p:sp>
      <p:sp>
        <p:nvSpPr>
          <p:cNvPr id="34" name="Shape 25"/>
          <p:cNvSpPr/>
          <p:nvPr/>
        </p:nvSpPr>
        <p:spPr>
          <a:xfrm>
            <a:off x="6231636" y="4672584"/>
            <a:ext cx="5408676" cy="566928"/>
          </a:xfrm>
          <a:prstGeom prst="roundRect">
            <a:avLst>
              <a:gd name="adj" fmla="val 1290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8796" y="4828032"/>
            <a:ext cx="256032" cy="25603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6761988" y="4672584"/>
            <a:ext cx="47411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entregue junto com o .pptx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6231636" y="5330952"/>
            <a:ext cx="5408676" cy="566928"/>
          </a:xfrm>
          <a:prstGeom prst="roundRect">
            <a:avLst>
              <a:gd name="adj" fmla="val 1290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8796" y="5486400"/>
            <a:ext cx="256032" cy="256032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761988" y="5330952"/>
            <a:ext cx="47411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da marca configurado</a:t>
            </a:r>
            <a:endParaRPr lang="en-US" sz="12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quando a marca tiver logo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fica o resultado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slide gerado a partir de cinco linhas de roteiro.</a:t>
            </a:r>
            <a:endParaRPr lang="en-US" sz="1600" dirty="0"/>
          </a:p>
        </p:txBody>
      </p:sp>
      <p:pic>
        <p:nvPicPr>
          <p:cNvPr id="4" name="Image 0" descr="Slide gerado pelo bloco 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82135"/>
            <a:ext cx="5899252" cy="331669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182135"/>
            <a:ext cx="5899252" cy="3316690"/>
          </a:xfrm>
          <a:prstGeom prst="rect">
            <a:avLst/>
          </a:prstGeom>
          <a:ln w="9525">
            <a:solidFill>
              <a:srgbClr val="DDE6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571977"/>
            <a:ext cx="58992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gerado pelo bloco compare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813652" y="1737360"/>
            <a:ext cx="482666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texto ao slide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roteiro diz apenas o título, a mensagem e as linhas da comparação.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e fontes vêm dos tokens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Ícones e setas são posicionados pelo bloco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arquivo continua editável no PowerPoint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dá para montar com o roteiro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509760" y="2468880"/>
            <a:ext cx="1463040" cy="1463040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0150" y="2849270"/>
            <a:ext cx="702259" cy="7022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disponíveis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24 blocos; cada slide de conteúdo combina um ou mais, empilhados ou em colunas.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usar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2A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2 a 8 ideias paralelas, com ícone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iconList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lista de 3 a 6 itens com explicação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e depois, ou duas visões lado a lado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steps / timeline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em etapas, ou fases e ondas de um plano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kpis / chart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de destaque e gráficos nativos do PowerPoint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callout / quote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conclusão em destaque, ou uma frase de impacto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/ imageText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Roteiro do deck, ou uma imagem com explicação ao lado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 / diagram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sistema e o que se conecta a ele, ou caixas e setas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matrix / 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Priorização 2×2, ou acompanhamento com farol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layers / cycle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Camadas que dependem umas das outras, ou um processo que se repete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/ prosCons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Alternativas para a liderança decidir, ou prós e contras de uma proposta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</a:tr>
              <a:tr h="2827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funnel / roadmap / checklist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Conversão entre etapas, plano com várias frentes, ou lista de verificação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41848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788152"/>
            <a:ext cx="329184" cy="3291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35024" y="5641848"/>
            <a:ext cx="10122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bloco aceita uma área, então dois blocos podem dividir o mesmo slide.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em colunas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blocos lado a lado: uma lista e um gráfico nativo, editável no PowerPoint.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12064" cy="512064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777" y="1870497"/>
            <a:ext cx="245791" cy="2457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9304" y="1719072"/>
            <a:ext cx="417631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mensagem por slide.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512064" cy="512064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777" y="2830617"/>
            <a:ext cx="245791" cy="24579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9304" y="2679192"/>
            <a:ext cx="417631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 texto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Frases curtas; o detalhe vai nas notas.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3657600"/>
            <a:ext cx="512064" cy="512064"/>
          </a:xfrm>
          <a:prstGeom prst="ellipse">
            <a:avLst/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77" y="3790737"/>
            <a:ext cx="245791" cy="24579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9304" y="3639312"/>
            <a:ext cx="417631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nativos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editáveis, não imagens.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739938" y="1737360"/>
          <a:ext cx="5900374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do piloto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bloco kpis, com valores ilustrativos.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4482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E6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2377440"/>
          </a:xfrm>
          <a:prstGeom prst="rect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3133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133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de marca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46120"/>
            <a:ext cx="3133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Paleta, fontes, rodapé e logo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2064" y="1737360"/>
            <a:ext cx="354482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E6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2064" y="1737360"/>
            <a:ext cx="82296" cy="2377440"/>
          </a:xfrm>
          <a:prstGeom prst="rect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1920240"/>
            <a:ext cx="3133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834640"/>
            <a:ext cx="3133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bloco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246120"/>
            <a:ext cx="3133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Combináveis em qualquer slide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5488" y="1737360"/>
            <a:ext cx="354482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E6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95488" y="1737360"/>
            <a:ext cx="82296" cy="2377440"/>
          </a:xfrm>
          <a:prstGeom prst="rect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1920240"/>
            <a:ext cx="3133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834640"/>
            <a:ext cx="3133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gerar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246120"/>
            <a:ext cx="3133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roteiro ao .pptx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5641848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788152"/>
            <a:ext cx="329184" cy="3291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335024" y="5641848"/>
            <a:ext cx="10122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números deste slide são ilustrativos.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pedido ao deck entregue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bloco funnel, com dados ilustrativos do piloto.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325880" y="2153412"/>
            <a:ext cx="5157216" cy="868680"/>
          </a:xfrm>
          <a:prstGeom prst="roundRect">
            <a:avLst>
              <a:gd name="adj" fmla="val 8421"/>
            </a:avLst>
          </a:prstGeom>
          <a:solidFill>
            <a:srgbClr val="D5E8CF"/>
          </a:solidFill>
          <a:ln w="12700">
            <a:solidFill>
              <a:srgbClr val="D5E8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2153412"/>
            <a:ext cx="4974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pPr algn="ctr" indent="0" marL="0">
              <a:buNone/>
            </a:pPr>
            <a:r>
              <a:rPr lang="en-US" sz="12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Pedidos de apresentação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37960" y="2587752"/>
            <a:ext cx="265176" cy="0"/>
          </a:xfrm>
          <a:prstGeom prst="line">
            <a:avLst/>
          </a:prstGeom>
          <a:noFill/>
          <a:ln w="12700">
            <a:solidFill>
              <a:srgbClr val="DDE6DA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894576" y="2153412"/>
            <a:ext cx="4745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pedidos das duas áreas do piloto no trimestre.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858792" y="3095244"/>
            <a:ext cx="4091391" cy="868680"/>
          </a:xfrm>
          <a:prstGeom prst="roundRect">
            <a:avLst>
              <a:gd name="adj" fmla="val 8421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50232" y="3095244"/>
            <a:ext cx="390851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pPr algn="ctr" indent="0" marL="0">
              <a:buNone/>
            </a:pPr>
            <a:r>
              <a:rPr lang="en-US" sz="12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Feitos pela skill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05048" y="3529584"/>
            <a:ext cx="798088" cy="0"/>
          </a:xfrm>
          <a:prstGeom prst="line">
            <a:avLst/>
          </a:prstGeom>
          <a:noFill/>
          <a:ln w="12700">
            <a:solidFill>
              <a:srgbClr val="DDE6D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894576" y="3095244"/>
            <a:ext cx="4745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demais pediam layouts que a skill ainda não tinha.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2150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70%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391705" y="4037076"/>
            <a:ext cx="3025567" cy="868680"/>
          </a:xfrm>
          <a:prstGeom prst="roundRect">
            <a:avLst>
              <a:gd name="adj" fmla="val 8421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83145" y="4037076"/>
            <a:ext cx="284268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Sem retrabalho de layout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72135" y="4471416"/>
            <a:ext cx="1331001" cy="0"/>
          </a:xfrm>
          <a:prstGeom prst="line">
            <a:avLst/>
          </a:prstGeom>
          <a:noFill/>
          <a:ln w="12700">
            <a:solidFill>
              <a:srgbClr val="DDE6D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894576" y="4037076"/>
            <a:ext cx="4745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Entregues sem ajustes manuais no PowerPoint.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8633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83%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24617" y="4978908"/>
            <a:ext cx="1959742" cy="868680"/>
          </a:xfrm>
          <a:prstGeom prst="roundRect">
            <a:avLst>
              <a:gd name="adj" fmla="val 8421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16057" y="4978908"/>
            <a:ext cx="17768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Reaproveitados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39223" y="5413248"/>
            <a:ext cx="1863913" cy="0"/>
          </a:xfrm>
          <a:prstGeom prst="line">
            <a:avLst/>
          </a:prstGeom>
          <a:noFill/>
          <a:ln w="12700">
            <a:solidFill>
              <a:srgbClr val="DDE6D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894576" y="4978908"/>
            <a:ext cx="4745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Roteiros usados de base para o deck seguinte.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0517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50%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levar o padrão para o dia a dia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509760" y="2468880"/>
            <a:ext cx="1463040" cy="1463040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0150" y="2849270"/>
            <a:ext cx="702259" cy="70225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começar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Priorizamos os decks frequentes que hoje dão mais trabalho para montar.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60120" y="1737360"/>
            <a:ext cx="5285232" cy="2025396"/>
          </a:xfrm>
          <a:prstGeom prst="roundRect">
            <a:avLst>
              <a:gd name="adj" fmla="val 3612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61288" y="1901952"/>
            <a:ext cx="4882896" cy="1696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Decks raros e trabalhosos: usar a biblioteca para layouts sob medida.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355080" y="1737360"/>
            <a:ext cx="5285232" cy="2025396"/>
          </a:xfrm>
          <a:prstGeom prst="roundRect">
            <a:avLst>
              <a:gd name="adj" fmla="val 3612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6248" y="1901952"/>
            <a:ext cx="4882896" cy="1696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Começar aqui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Decks frequentes e trabalhosos: maior ganho com o roteiro.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0120" y="3872484"/>
            <a:ext cx="5285232" cy="2025396"/>
          </a:xfrm>
          <a:prstGeom prst="roundRect">
            <a:avLst>
              <a:gd name="adj" fmla="val 3612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61288" y="4037076"/>
            <a:ext cx="4882896" cy="1696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Deixar como está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 uso e pouco esforço.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3872484"/>
            <a:ext cx="5285232" cy="2025396"/>
          </a:xfrm>
          <a:prstGeom prst="roundRect">
            <a:avLst>
              <a:gd name="adj" fmla="val 3612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6248" y="4037076"/>
            <a:ext cx="4882896" cy="1696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rápido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Decks frequentes e simples: um roteiro curto resolve.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5971032"/>
            <a:ext cx="10680192" cy="0"/>
          </a:xfrm>
          <a:prstGeom prst="line">
            <a:avLst/>
          </a:prstGeom>
          <a:noFill/>
          <a:ln w="15875">
            <a:solidFill>
              <a:srgbClr val="6B7A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868680" y="1737360"/>
            <a:ext cx="0" cy="4160520"/>
          </a:xfrm>
          <a:prstGeom prst="line">
            <a:avLst/>
          </a:prstGeom>
          <a:noFill/>
          <a:ln w="15875">
            <a:solidFill>
              <a:srgbClr val="6B7A72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960120" y="60076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811512" y="60076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471416" y="6007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 rot="16200000">
            <a:off x="-320040" y="49377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 rot="16200000">
            <a:off x="-320040" y="2514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 rot="16200000">
            <a:off x="-1143000" y="36987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 PARA MONTAR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937699" y="4549140"/>
            <a:ext cx="201168" cy="201168"/>
          </a:xfrm>
          <a:prstGeom prst="ellipse">
            <a:avLst/>
          </a:prstGeom>
          <a:solidFill>
            <a:srgbClr val="F2A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84587" y="45217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semanal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335670" y="2468880"/>
            <a:ext cx="201168" cy="201168"/>
          </a:xfrm>
          <a:prstGeom prst="ellipse">
            <a:avLst/>
          </a:prstGeom>
          <a:solidFill>
            <a:srgbClr val="F2A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82558" y="24414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executiva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529584" y="2676906"/>
            <a:ext cx="201168" cy="201168"/>
          </a:xfrm>
          <a:prstGeom prst="ellipse">
            <a:avLst/>
          </a:prstGeom>
          <a:solidFill>
            <a:srgbClr val="F2A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76472" y="264947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a skill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caminhos para levar a skill às áreas; recomendamos o repositório compartilhado.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62556"/>
            <a:ext cx="3544824" cy="3675888"/>
          </a:xfrm>
          <a:prstGeom prst="roundRect">
            <a:avLst>
              <a:gd name="adj" fmla="val 2064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308860"/>
            <a:ext cx="3179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OPÇÃO 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29484"/>
            <a:ext cx="31790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 por área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31236"/>
            <a:ext cx="3179064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área copia a pasta da skill e cuida da sua versão.</a:t>
            </a:r>
            <a:endParaRPr lang="en-US" sz="11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546348"/>
            <a:ext cx="146304" cy="14630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87552" y="3518916"/>
            <a:ext cx="2923032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infraestrutura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323588"/>
            <a:ext cx="146304" cy="1463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87552" y="4296156"/>
            <a:ext cx="2923032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 divergem com o tempo</a:t>
            </a:r>
            <a:endParaRPr lang="en-US" sz="11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546092"/>
            <a:ext cx="146304" cy="14630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4518660"/>
            <a:ext cx="2923032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Correções não chegam a todos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731520" y="4942332"/>
            <a:ext cx="3179064" cy="0"/>
          </a:xfrm>
          <a:prstGeom prst="line">
            <a:avLst/>
          </a:prstGeom>
          <a:noFill/>
          <a:ln w="12700">
            <a:solidFill>
              <a:srgbClr val="DDE6D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5033772"/>
            <a:ext cx="1589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2003146" y="5033772"/>
            <a:ext cx="19074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5344668"/>
            <a:ext cx="1589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2003146" y="5344668"/>
            <a:ext cx="19074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Imediato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4322064" y="2162556"/>
            <a:ext cx="3544824" cy="3675888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31750">
            <a:solidFill>
              <a:srgbClr val="3FA53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49568" y="2308860"/>
            <a:ext cx="1234440" cy="274320"/>
          </a:xfrm>
          <a:prstGeom prst="roundRect">
            <a:avLst>
              <a:gd name="adj" fmla="val 26667"/>
            </a:avLst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449568" y="23088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RECOMENDADA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504944" y="230886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OPÇÃO B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4504944" y="2729484"/>
            <a:ext cx="31790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compartilhado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4504944" y="3031236"/>
            <a:ext cx="3179064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fonte única, instalada nas máquinas e nos agentes pelo install.sh.</a:t>
            </a:r>
            <a:endParaRPr lang="en-US" sz="115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3546348"/>
            <a:ext cx="146304" cy="14630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60976" y="3518916"/>
            <a:ext cx="2923032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versão para todos</a:t>
            </a:r>
            <a:endParaRPr lang="en-US" sz="11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768852"/>
            <a:ext cx="146304" cy="14630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760976" y="3741420"/>
            <a:ext cx="2923032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com um git pull</a:t>
            </a:r>
            <a:endParaRPr lang="en-US" sz="11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4" y="3991356"/>
            <a:ext cx="146304" cy="14630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760976" y="3963924"/>
            <a:ext cx="2923032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com Claude e Copilot</a:t>
            </a:r>
            <a:endParaRPr lang="en-US" sz="110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4944" y="4323588"/>
            <a:ext cx="146304" cy="14630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760976" y="4296156"/>
            <a:ext cx="2923032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git nas máquinas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4504944" y="4942332"/>
            <a:ext cx="3179064" cy="0"/>
          </a:xfrm>
          <a:prstGeom prst="line">
            <a:avLst/>
          </a:prstGeom>
          <a:noFill/>
          <a:ln w="12700">
            <a:solidFill>
              <a:srgbClr val="DDE6DA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4504944" y="5033772"/>
            <a:ext cx="1589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endParaRPr lang="en-US" sz="1000" dirty="0"/>
          </a:p>
        </p:txBody>
      </p:sp>
      <p:sp>
        <p:nvSpPr>
          <p:cNvPr id="35" name="Text 26"/>
          <p:cNvSpPr txBox="1"/>
          <p:nvPr/>
        </p:nvSpPr>
        <p:spPr>
          <a:xfrm>
            <a:off x="5776570" y="5033772"/>
            <a:ext cx="19074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350" dirty="0"/>
          </a:p>
        </p:txBody>
      </p:sp>
      <p:sp>
        <p:nvSpPr>
          <p:cNvPr id="36" name="Text 27"/>
          <p:cNvSpPr txBox="1"/>
          <p:nvPr/>
        </p:nvSpPr>
        <p:spPr>
          <a:xfrm>
            <a:off x="4504944" y="5344668"/>
            <a:ext cx="1589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5776570" y="5344668"/>
            <a:ext cx="19074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semanas</a:t>
            </a:r>
            <a:endParaRPr lang="en-US" sz="1350" dirty="0"/>
          </a:p>
        </p:txBody>
      </p:sp>
      <p:sp>
        <p:nvSpPr>
          <p:cNvPr id="38" name="Shape 29"/>
          <p:cNvSpPr/>
          <p:nvPr/>
        </p:nvSpPr>
        <p:spPr>
          <a:xfrm>
            <a:off x="8095488" y="2162556"/>
            <a:ext cx="3544824" cy="3675888"/>
          </a:xfrm>
          <a:prstGeom prst="roundRect">
            <a:avLst>
              <a:gd name="adj" fmla="val 2064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8278368" y="2308860"/>
            <a:ext cx="3179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OPÇÃO C</a:t>
            </a:r>
            <a:endParaRPr lang="en-US" sz="950" dirty="0"/>
          </a:p>
        </p:txBody>
      </p:sp>
      <p:sp>
        <p:nvSpPr>
          <p:cNvPr id="40" name="Text 31"/>
          <p:cNvSpPr txBox="1"/>
          <p:nvPr/>
        </p:nvSpPr>
        <p:spPr>
          <a:xfrm>
            <a:off x="8278368" y="2729484"/>
            <a:ext cx="31790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central de geração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8278368" y="3031236"/>
            <a:ext cx="3179064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API recebe o roteiro e devolve o .pptx.</a:t>
            </a:r>
            <a:endParaRPr lang="en-US" sz="11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8368" y="3546348"/>
            <a:ext cx="146304" cy="146304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534400" y="3518916"/>
            <a:ext cx="2923032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a instalar nas máquinas</a:t>
            </a:r>
            <a:endParaRPr lang="en-US" sz="1100" dirty="0"/>
          </a:p>
        </p:txBody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8368" y="4323588"/>
            <a:ext cx="146304" cy="146304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8534400" y="4296156"/>
            <a:ext cx="2923032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um serviço para operar</a:t>
            </a:r>
            <a:endParaRPr lang="en-US" sz="1100" dirty="0"/>
          </a:p>
        </p:txBody>
      </p:sp>
      <p:pic>
        <p:nvPicPr>
          <p:cNvPr id="4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8368" y="4546092"/>
            <a:ext cx="146304" cy="146304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8534400" y="4518660"/>
            <a:ext cx="2923032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precisam de acesso à rede</a:t>
            </a:r>
            <a:endParaRPr lang="en-US" sz="1100" dirty="0"/>
          </a:p>
        </p:txBody>
      </p:sp>
      <p:sp>
        <p:nvSpPr>
          <p:cNvPr id="48" name="Shape 36"/>
          <p:cNvSpPr/>
          <p:nvPr/>
        </p:nvSpPr>
        <p:spPr>
          <a:xfrm>
            <a:off x="8278368" y="4942332"/>
            <a:ext cx="3179064" cy="0"/>
          </a:xfrm>
          <a:prstGeom prst="line">
            <a:avLst/>
          </a:prstGeom>
          <a:noFill/>
          <a:ln w="12700">
            <a:solidFill>
              <a:srgbClr val="DDE6DA"/>
            </a:solidFill>
            <a:prstDash val="solid"/>
          </a:ln>
        </p:spPr>
      </p:sp>
      <p:sp>
        <p:nvSpPr>
          <p:cNvPr id="49" name="Text 37"/>
          <p:cNvSpPr txBox="1"/>
          <p:nvPr/>
        </p:nvSpPr>
        <p:spPr>
          <a:xfrm>
            <a:off x="8278368" y="5033772"/>
            <a:ext cx="1589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endParaRPr lang="en-US" sz="1000" dirty="0"/>
          </a:p>
        </p:txBody>
      </p:sp>
      <p:sp>
        <p:nvSpPr>
          <p:cNvPr id="50" name="Text 38"/>
          <p:cNvSpPr txBox="1"/>
          <p:nvPr/>
        </p:nvSpPr>
        <p:spPr>
          <a:xfrm>
            <a:off x="9549994" y="5033772"/>
            <a:ext cx="19074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350" dirty="0"/>
          </a:p>
        </p:txBody>
      </p:sp>
      <p:sp>
        <p:nvSpPr>
          <p:cNvPr id="51" name="Text 39"/>
          <p:cNvSpPr txBox="1"/>
          <p:nvPr/>
        </p:nvSpPr>
        <p:spPr>
          <a:xfrm>
            <a:off x="8278368" y="5344668"/>
            <a:ext cx="1589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</a:t>
            </a:r>
            <a:endParaRPr lang="en-US" sz="1000" dirty="0"/>
          </a:p>
        </p:txBody>
      </p:sp>
      <p:sp>
        <p:nvSpPr>
          <p:cNvPr id="52" name="Text 40"/>
          <p:cNvSpPr txBox="1"/>
          <p:nvPr/>
        </p:nvSpPr>
        <p:spPr>
          <a:xfrm>
            <a:off x="9549994" y="5344668"/>
            <a:ext cx="19074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meses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todo deck pela skill?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bloco prosCons: a decisão de tornar a skill o caminho padrão.</a:t>
            </a: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72334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2590038"/>
            <a:ext cx="49971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047238"/>
            <a:ext cx="5408676" cy="45720"/>
          </a:xfrm>
          <a:prstGeom prst="rect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3184398"/>
            <a:ext cx="5408676" cy="1266444"/>
          </a:xfrm>
          <a:prstGeom prst="roundRect">
            <a:avLst>
              <a:gd name="adj" fmla="val 5776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9471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51560" y="3367278"/>
            <a:ext cx="47228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deck sai com a mesma identidade visual</a:t>
            </a:r>
            <a:endParaRPr lang="en-US" sz="12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49802"/>
            <a:ext cx="182880" cy="1828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3722370"/>
            <a:ext cx="47228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 pessoas usam o mesmo caminho</a:t>
            </a:r>
            <a:endParaRPr lang="en-US" sz="12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104894"/>
            <a:ext cx="182880" cy="1828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51560" y="4077462"/>
            <a:ext cx="47228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roteiro em JSON gera a próxima versão sem retrabalho</a:t>
            </a:r>
            <a:endParaRPr lang="en-US" sz="12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636" y="2672334"/>
            <a:ext cx="292608" cy="292608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6643116" y="2590038"/>
            <a:ext cx="49971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6231636" y="3047238"/>
            <a:ext cx="5408676" cy="45720"/>
          </a:xfrm>
          <a:prstGeom prst="rect">
            <a:avLst/>
          </a:prstGeom>
          <a:solidFill>
            <a:srgbClr val="C8382E"/>
          </a:solidFill>
          <a:ln w="12700">
            <a:solidFill>
              <a:srgbClr val="C8382E"/>
            </a:solidFill>
            <a:prstDash val="solid"/>
          </a:ln>
        </p:spPr>
      </p:sp>
      <p:sp>
        <p:nvSpPr>
          <p:cNvPr id="17" name="Shape 10"/>
          <p:cNvSpPr/>
          <p:nvPr/>
        </p:nvSpPr>
        <p:spPr>
          <a:xfrm>
            <a:off x="6231636" y="3184398"/>
            <a:ext cx="5408676" cy="911352"/>
          </a:xfrm>
          <a:prstGeom prst="roundRect">
            <a:avLst>
              <a:gd name="adj" fmla="val 8027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4516" y="3394710"/>
            <a:ext cx="182880" cy="1828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6734556" y="3367278"/>
            <a:ext cx="47228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Layouts muito específicos ainda pedem a biblioteca</a:t>
            </a:r>
            <a:endParaRPr lang="en-US" sz="12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4516" y="3749802"/>
            <a:ext cx="182880" cy="18288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734556" y="3722370"/>
            <a:ext cx="47228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precisam aprender o formato do roteiro</a:t>
            </a:r>
            <a:endParaRPr lang="en-US" sz="1250" dirty="0"/>
          </a:p>
        </p:txBody>
      </p:sp>
      <p:sp>
        <p:nvSpPr>
          <p:cNvPr id="22" name="Shape 13"/>
          <p:cNvSpPr/>
          <p:nvPr/>
        </p:nvSpPr>
        <p:spPr>
          <a:xfrm>
            <a:off x="548640" y="4725162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777240" y="4725162"/>
            <a:ext cx="10680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Tornar a skill o caminho padrão para decks recorrentes e manter a biblioteca para os casos sob medida.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adoção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Começamos pelo template oficial e expandimos por áreas.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35758" cy="4526280"/>
          </a:xfrm>
          <a:prstGeom prst="roundRect">
            <a:avLst>
              <a:gd name="adj" fmla="val 2775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48840"/>
            <a:ext cx="22699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oficial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226999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o .potx da marca e atualizar o arquivo de tokens.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7278" y="2011680"/>
            <a:ext cx="2635758" cy="4251960"/>
          </a:xfrm>
          <a:prstGeom prst="roundRect">
            <a:avLst>
              <a:gd name="adj" fmla="val 2775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50158" y="214884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50158" y="2423160"/>
            <a:ext cx="22699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50158" y="3108960"/>
            <a:ext cx="22699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áreas geram as suas apresentações pela skill.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5916" y="2286000"/>
            <a:ext cx="2635758" cy="3977640"/>
          </a:xfrm>
          <a:prstGeom prst="roundRect">
            <a:avLst>
              <a:gd name="adj" fmla="val 2775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242316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68796" y="2697480"/>
            <a:ext cx="22699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383280"/>
            <a:ext cx="22699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publicada para agentes e pessoas do time.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4554" y="2560320"/>
            <a:ext cx="2635758" cy="3703320"/>
          </a:xfrm>
          <a:prstGeom prst="roundRect">
            <a:avLst>
              <a:gd name="adj" fmla="val 2775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7434" y="269748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87434" y="2971800"/>
            <a:ext cx="22699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187434" y="3657600"/>
            <a:ext cx="226999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blocos conforme a demanda, sempre versionados.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por trimestre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bloco roadmap: frentes em paralelo, com o que já foi feito e o que vem.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496312" y="2820924"/>
            <a:ext cx="2237994" cy="365760"/>
          </a:xfrm>
          <a:prstGeom prst="roundRect">
            <a:avLst>
              <a:gd name="adj" fmla="val 20000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496312" y="2820924"/>
            <a:ext cx="22379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89170" y="2820924"/>
            <a:ext cx="2237994" cy="365760"/>
          </a:xfrm>
          <a:prstGeom prst="roundRect">
            <a:avLst>
              <a:gd name="adj" fmla="val 20000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89170" y="2820924"/>
            <a:ext cx="22379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61738" y="3278124"/>
            <a:ext cx="2292858" cy="1645920"/>
          </a:xfrm>
          <a:prstGeom prst="rect">
            <a:avLst/>
          </a:prstGeom>
          <a:solidFill>
            <a:srgbClr val="F7FAF6"/>
          </a:solidFill>
          <a:ln w="12700">
            <a:solidFill>
              <a:srgbClr val="F7FA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82028" y="2820924"/>
            <a:ext cx="2237994" cy="365760"/>
          </a:xfrm>
          <a:prstGeom prst="roundRect">
            <a:avLst>
              <a:gd name="adj" fmla="val 20000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2028" y="2820924"/>
            <a:ext cx="22379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74886" y="2820924"/>
            <a:ext cx="2237994" cy="365760"/>
          </a:xfrm>
          <a:prstGeom prst="roundRect">
            <a:avLst>
              <a:gd name="adj" fmla="val 20000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74886" y="2820924"/>
            <a:ext cx="22379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347454" y="3278124"/>
            <a:ext cx="2292858" cy="1645920"/>
          </a:xfrm>
          <a:prstGeom prst="rect">
            <a:avLst/>
          </a:prstGeom>
          <a:solidFill>
            <a:srgbClr val="F7FAF6"/>
          </a:solidFill>
          <a:ln w="12700">
            <a:solidFill>
              <a:srgbClr val="F7FAF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415284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78124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505456" y="3332988"/>
            <a:ext cx="2219706" cy="438912"/>
          </a:xfrm>
          <a:prstGeom prst="roundRect">
            <a:avLst>
              <a:gd name="adj" fmla="val 16667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608" y="3332988"/>
            <a:ext cx="20734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da marca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798314" y="3332988"/>
            <a:ext cx="3366135" cy="438912"/>
          </a:xfrm>
          <a:prstGeom prst="roundRect">
            <a:avLst>
              <a:gd name="adj" fmla="val 16667"/>
            </a:avLst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71466" y="3332988"/>
            <a:ext cx="321983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nos layouts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228582" y="3433572"/>
            <a:ext cx="237744" cy="237744"/>
          </a:xfrm>
          <a:prstGeom prst="diamond">
            <a:avLst/>
          </a:prstGeom>
          <a:solidFill>
            <a:srgbClr val="F2A9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521190" y="3332988"/>
            <a:ext cx="21191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oficial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3826764"/>
            <a:ext cx="11091672" cy="0"/>
          </a:xfrm>
          <a:prstGeom prst="line">
            <a:avLst/>
          </a:prstGeom>
          <a:noFill/>
          <a:ln w="9525">
            <a:solidFill>
              <a:srgbClr val="DDE6D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63924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32688" y="3826764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2505456" y="3881628"/>
            <a:ext cx="3366135" cy="438912"/>
          </a:xfrm>
          <a:prstGeom prst="roundRect">
            <a:avLst>
              <a:gd name="adj" fmla="val 16667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578608" y="3881628"/>
            <a:ext cx="321983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básicos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5944743" y="3881628"/>
            <a:ext cx="3366135" cy="438912"/>
          </a:xfrm>
          <a:prstGeom prst="roundRect">
            <a:avLst>
              <a:gd name="adj" fmla="val 16667"/>
            </a:avLst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017895" y="3881628"/>
            <a:ext cx="321983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e decisão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9384030" y="3881628"/>
            <a:ext cx="2219706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1E6B52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9457182" y="3881628"/>
            <a:ext cx="20734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sob demanda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548640" y="4375404"/>
            <a:ext cx="11091672" cy="0"/>
          </a:xfrm>
          <a:prstGeom prst="line">
            <a:avLst/>
          </a:prstGeom>
          <a:noFill/>
          <a:ln w="9525">
            <a:solidFill>
              <a:srgbClr val="DDE6DA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12564"/>
            <a:ext cx="274320" cy="27432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32688" y="4375404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4798314" y="4430268"/>
            <a:ext cx="2219706" cy="438912"/>
          </a:xfrm>
          <a:prstGeom prst="roundRect">
            <a:avLst>
              <a:gd name="adj" fmla="val 16667"/>
            </a:avLst>
          </a:prstGeom>
          <a:solidFill>
            <a:srgbClr val="0F4D2A"/>
          </a:solidFill>
          <a:ln w="12700">
            <a:solidFill>
              <a:srgbClr val="0F4D2A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871466" y="4430268"/>
            <a:ext cx="20734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em duas áreas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7091172" y="4430268"/>
            <a:ext cx="2219706" cy="438912"/>
          </a:xfrm>
          <a:prstGeom prst="roundRect">
            <a:avLst>
              <a:gd name="adj" fmla="val 16667"/>
            </a:avLst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164324" y="4430268"/>
            <a:ext cx="20734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Instalador para agentes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9384030" y="4430268"/>
            <a:ext cx="2219706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1E6B52"/>
            </a:solidFill>
            <a:prstDash val="dash"/>
          </a:ln>
        </p:spPr>
      </p:sp>
      <p:sp>
        <p:nvSpPr>
          <p:cNvPr id="39" name="Text 34"/>
          <p:cNvSpPr txBox="1"/>
          <p:nvPr/>
        </p:nvSpPr>
        <p:spPr>
          <a:xfrm>
            <a:off x="9457182" y="4430268"/>
            <a:ext cx="20734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áreas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548640" y="4924044"/>
            <a:ext cx="11091672" cy="0"/>
          </a:xfrm>
          <a:prstGeom prst="line">
            <a:avLst/>
          </a:prstGeom>
          <a:noFill/>
          <a:ln w="9525">
            <a:solidFill>
              <a:srgbClr val="DDE6DA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7971739" y="3232404"/>
            <a:ext cx="0" cy="1719072"/>
          </a:xfrm>
          <a:prstGeom prst="line">
            <a:avLst/>
          </a:prstGeom>
          <a:noFill/>
          <a:ln w="19050">
            <a:solidFill>
              <a:srgbClr val="C8382E"/>
            </a:solidFill>
            <a:prstDash val="dash"/>
          </a:ln>
        </p:spPr>
      </p:sp>
      <p:sp>
        <p:nvSpPr>
          <p:cNvPr id="42" name="Text 37"/>
          <p:cNvSpPr txBox="1"/>
          <p:nvPr/>
        </p:nvSpPr>
        <p:spPr>
          <a:xfrm>
            <a:off x="7514539" y="49606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3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da adoção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E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bloco status, com dados ilustrativos.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2883835"/>
                <a:gridCol w="1552834"/>
                <a:gridCol w="1774668"/>
                <a:gridCol w="1220084"/>
                <a:gridCol w="36602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da marca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Paleta e fontes validadas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Blocos de diagrama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FA5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prazo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Engenharia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 e diagram no 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Logo nos layouts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2A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Aguardando arquivos em PNG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4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pelos agentes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C83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risco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Plataforma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liberar o terminal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frase de impacto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691640"/>
            <a:ext cx="94457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4D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identidade visual é responsabilidade do padrão; o conteúdo é responsabilidade de quem apresenta.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53212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Princípio do padrão de apresentações</a:t>
            </a:r>
            <a:endParaRPr lang="en-US" sz="14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5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e sugestões de novos blocos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área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92640" y="2194560"/>
            <a:ext cx="2011680" cy="2011680"/>
          </a:xfrm>
          <a:prstGeom prst="ellipse">
            <a:avLst/>
          </a:prstGeom>
          <a:solidFill>
            <a:srgbClr val="3FA535"/>
          </a:solidFill>
          <a:ln w="12700">
            <a:solidFill>
              <a:srgbClr val="3FA53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Marca de exemplo">
  <a:themeElements>
    <a:clrScheme name="Marca de exemplo">
      <a:dk1>
        <a:srgbClr val="1B2A22"/>
      </a:dk1>
      <a:lt1>
        <a:srgbClr val="FFFFFF"/>
      </a:lt1>
      <a:dk2>
        <a:srgbClr val="0F4D2A"/>
      </a:dk2>
      <a:lt2>
        <a:srgbClr val="EEF5EC"/>
      </a:lt2>
      <a:accent1>
        <a:srgbClr val="3FA535"/>
      </a:accent1>
      <a:accent2>
        <a:srgbClr val="8CC63F"/>
      </a:accent2>
      <a:accent3>
        <a:srgbClr val="F2A900"/>
      </a:accent3>
      <a:accent4>
        <a:srgbClr val="1E6B52"/>
      </a:accent4>
      <a:accent5>
        <a:srgbClr val="6B7A72"/>
      </a:accent5>
      <a:accent6>
        <a:srgbClr val="D5E8CF"/>
      </a:accent6>
      <a:hlink>
        <a:srgbClr val="1E6B52"/>
      </a:hlink>
      <a:folHlink>
        <a:srgbClr val="6B7A72"/>
      </a:folHlink>
    </a:clrScheme>
    <a:fontScheme name="Marca de exempl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Marca de exemplo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Apresentações com identidade visual padrão</dc:title>
  <dc:subject>PptxGenJS Presentation</dc:subject>
  <dc:creator>Sua área</dc:creator>
  <cp:lastModifiedBy>Sua área</cp:lastModifiedBy>
  <cp:revision>1</cp:revision>
  <dcterms:created xsi:type="dcterms:W3CDTF">2026-10-20T13:32:08Z</dcterms:created>
  <dcterms:modified xsi:type="dcterms:W3CDTF">2026-10-20T13:32:08Z</dcterms:modified>
</cp:coreProperties>
</file>